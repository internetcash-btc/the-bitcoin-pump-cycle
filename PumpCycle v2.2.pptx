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93" r:id="rId3"/>
    <p:sldId id="294" r:id="rId4"/>
    <p:sldId id="295" r:id="rId5"/>
    <p:sldId id="296" r:id="rId6"/>
    <p:sldId id="297" r:id="rId7"/>
    <p:sldId id="298" r:id="rId8"/>
    <p:sldId id="299" r:id="rId9"/>
    <p:sldId id="300" r:id="rId10"/>
    <p:sldId id="301" r:id="rId11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7FDB5"/>
    <a:srgbClr val="4D4D4E"/>
    <a:srgbClr val="07D7E1"/>
    <a:srgbClr val="00CC00"/>
    <a:srgbClr val="FDB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21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CF881-91BB-DE93-E822-F067769751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43457E-FEBE-B17D-77CB-A392AD6D9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679CB-F4CE-5E07-14D1-65D9E40AE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97639-DC2B-475F-B799-6FBEF20DAA91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4743C7-1220-3022-1EB4-3505A7D37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B7EC1-42B4-3E46-F87D-B1795C863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1C4C-3164-4B67-A382-7EE40C7E8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042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7EAD4-A95F-FA01-2FEF-2A7B04B5A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DE86E-CA01-DF18-331B-D1F8C52B5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B6B10-6C55-F927-D62F-871F126AC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97639-DC2B-475F-B799-6FBEF20DAA91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D618F-925F-1FAB-DE49-6E24A7FC1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CD3C9-A009-8CE9-A5A4-35CAA1DA1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1C4C-3164-4B67-A382-7EE40C7E8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198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D1949-09C5-DF7C-BDFB-11FB62E7D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984BB-D520-8C22-4050-A2B71FD3A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6DC3B-717B-A58D-CE30-759C3ADB6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97639-DC2B-475F-B799-6FBEF20DAA91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97097-BEFD-1478-F160-9EFA8F31B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3CF260-054B-0BB3-7926-008712468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1C4C-3164-4B67-A382-7EE40C7E8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892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58BD3-EB7A-2D1E-7B4B-79D715314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BFD10-702B-8406-F446-1330A2BEF2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C0433-2EF2-BC68-918E-04BBB7F8A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A69BEF-4910-2B48-2AC7-E5080D439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97639-DC2B-475F-B799-6FBEF20DAA91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E0341A-230B-DF1C-8603-83616A7CE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3FA164-DC4F-C1E6-A67E-109D4FAB5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1C4C-3164-4B67-A382-7EE40C7E8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800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3F195-F777-1102-FE65-8304E576C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715802-A6B9-09E9-D797-576E7246E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87A585-E7C1-AA22-C864-742EF80BDB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B74BC9-E91C-8B3D-D9BB-A464F4C7F8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E2976C-6509-0B8A-172E-68184B4945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BD4916-A471-5702-A28B-4FAB87894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97639-DC2B-475F-B799-6FBEF20DAA91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AEB726-735A-49F6-D856-D2AA159BE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DB294C-3A48-9A53-F0BF-C3F1EEFA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1C4C-3164-4B67-A382-7EE40C7E8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118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3B78B-2853-7992-7F17-10D6A9753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2CEA19-5EBB-4D14-99F1-624923C83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97639-DC2B-475F-B799-6FBEF20DAA91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14A50A-C1D8-BEF4-E598-C81F3371D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A7409F-D83D-5C7B-1EB5-03CEC400C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1C4C-3164-4B67-A382-7EE40C7E8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130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AE7384-0669-0508-3A92-463EC96B5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97639-DC2B-475F-B799-6FBEF20DAA91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3A80C1-6A61-77E1-B7DC-2E515A7E1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2A0B1F-8D44-F1E4-AF75-657955D63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1C4C-3164-4B67-A382-7EE40C7E8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72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C2658-82F0-9D80-3596-7342CCF83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D0046-B714-2BD3-02D5-4925023F6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EF6633-26E4-1184-AC81-2A1963BA5D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B07489-26D0-5A64-51F3-6A21D84F0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97639-DC2B-475F-B799-6FBEF20DAA91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AA712A-E9A8-7445-D3F8-9450D345C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781699-1183-2326-7737-C273AA385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1C4C-3164-4B67-A382-7EE40C7E8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447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3415D-7FF2-9108-6B6C-D1EC380C8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A930E6-B11B-AE7B-D661-11640A3FF1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A9B284-62B2-8F81-9434-60DAD133D3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22B94C-8D73-623B-FED6-7494B2044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97639-DC2B-475F-B799-6FBEF20DAA91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E43D42-AC94-A108-4633-41E71524F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64703A-9373-2E2C-93F4-3B9BC7C93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1C4C-3164-4B67-A382-7EE40C7E8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678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DB486-0BB8-8BDE-6CAE-2D3FC8CB3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11524E-0F8A-29B9-60A3-879D6DF4AD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335C6-1F5C-A1EE-9B39-25A4AE545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97639-DC2B-475F-B799-6FBEF20DAA91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A94C9-0C26-81EF-8563-2B47CA75E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A0518-F604-0E3A-A8B3-F2A91E504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1C4C-3164-4B67-A382-7EE40C7E8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73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9F508B-8AC8-88EF-4C96-9D77A86226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608C1A-802F-77F3-897E-5A1706BB46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2CEEB-EFBC-BA13-912D-238F963F3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97639-DC2B-475F-B799-6FBEF20DAA91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DE767-501B-4213-E436-FDA2A9AD8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B18D6-E5DB-DC1E-9C61-DBA7162E3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1C4C-3164-4B67-A382-7EE40C7E8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884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6EE41C-1A23-5CEB-02CD-48AE9C175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502EB2-1232-415B-5084-9D192D3A81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BF635-53DA-E7F5-BA57-3672BEE3AE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97639-DC2B-475F-B799-6FBEF20DAA91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FEFD0-8C15-A895-FC2A-0AC94DDA1D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21974-10DA-10BD-A4A3-1A1050E039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401C4C-3164-4B67-A382-7EE40C7E8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470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7551E5B1-A0D1-9555-DE1C-47BE95D9C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0998" y="636027"/>
            <a:ext cx="4044835" cy="108117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0A255BA-88C8-96B8-6410-65BFC7C2F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84169"/>
            <a:ext cx="12192000" cy="3292993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8D44621C-F547-73D5-E072-F0C12920D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42" y="207711"/>
            <a:ext cx="2612367" cy="579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64EF49F-D341-9AE3-6C5E-BE8FEE6F6D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7434" y="118533"/>
            <a:ext cx="1581150" cy="1838325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4169AE9-B1DD-38B0-8509-03D2D76699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019033"/>
              </p:ext>
            </p:extLst>
          </p:nvPr>
        </p:nvGraphicFramePr>
        <p:xfrm>
          <a:off x="5010155" y="192009"/>
          <a:ext cx="2730234" cy="165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9274">
                  <a:extLst>
                    <a:ext uri="{9D8B030D-6E8A-4147-A177-3AD203B41FA5}">
                      <a16:colId xmlns:a16="http://schemas.microsoft.com/office/drawing/2014/main" val="180192999"/>
                    </a:ext>
                  </a:extLst>
                </a:gridCol>
                <a:gridCol w="639274">
                  <a:extLst>
                    <a:ext uri="{9D8B030D-6E8A-4147-A177-3AD203B41FA5}">
                      <a16:colId xmlns:a16="http://schemas.microsoft.com/office/drawing/2014/main" val="876552772"/>
                    </a:ext>
                  </a:extLst>
                </a:gridCol>
                <a:gridCol w="759138">
                  <a:extLst>
                    <a:ext uri="{9D8B030D-6E8A-4147-A177-3AD203B41FA5}">
                      <a16:colId xmlns:a16="http://schemas.microsoft.com/office/drawing/2014/main" val="590476055"/>
                    </a:ext>
                  </a:extLst>
                </a:gridCol>
                <a:gridCol w="692548">
                  <a:extLst>
                    <a:ext uri="{9D8B030D-6E8A-4147-A177-3AD203B41FA5}">
                      <a16:colId xmlns:a16="http://schemas.microsoft.com/office/drawing/2014/main" val="2691916866"/>
                    </a:ext>
                  </a:extLst>
                </a:gridCol>
              </a:tblGrid>
              <a:tr h="330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 dirty="0">
                          <a:effectLst/>
                        </a:rPr>
                        <a:t>Days</a:t>
                      </a:r>
                      <a:endParaRPr lang="en-US" sz="1100" b="0" i="0" u="sng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Segment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Start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End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30698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531.3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Phi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11/10/2022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4/24/2024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397333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328.4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4/24/2024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3/18/2025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418168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328.4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3/18/2025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2/10/2026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88214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202.9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1/Phi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2/10/2026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9/1/2026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44467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AF6CB3-C1F1-F943-4FB4-C79F6BBCAA2A}"/>
              </a:ext>
            </a:extLst>
          </p:cNvPr>
          <p:cNvSpPr txBox="1"/>
          <p:nvPr/>
        </p:nvSpPr>
        <p:spPr>
          <a:xfrm>
            <a:off x="3322904" y="4042759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439F8D-D500-2CB0-8984-6F97F0381D72}"/>
              </a:ext>
            </a:extLst>
          </p:cNvPr>
          <p:cNvSpPr txBox="1"/>
          <p:nvPr/>
        </p:nvSpPr>
        <p:spPr>
          <a:xfrm>
            <a:off x="6980412" y="2900974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AE7DA3A-A060-D734-6A4C-D780BB728F44}"/>
              </a:ext>
            </a:extLst>
          </p:cNvPr>
          <p:cNvCxnSpPr>
            <a:cxnSpLocks/>
          </p:cNvCxnSpPr>
          <p:nvPr/>
        </p:nvCxnSpPr>
        <p:spPr>
          <a:xfrm>
            <a:off x="5608867" y="3526970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45187A2-8587-0DE6-85C5-9BB4BF202395}"/>
              </a:ext>
            </a:extLst>
          </p:cNvPr>
          <p:cNvCxnSpPr>
            <a:cxnSpLocks/>
          </p:cNvCxnSpPr>
          <p:nvPr/>
        </p:nvCxnSpPr>
        <p:spPr>
          <a:xfrm>
            <a:off x="8692244" y="3206934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ABC67C32-CDF8-F409-B5F8-39A8B6C14EAD}"/>
              </a:ext>
            </a:extLst>
          </p:cNvPr>
          <p:cNvSpPr/>
          <p:nvPr/>
        </p:nvSpPr>
        <p:spPr>
          <a:xfrm>
            <a:off x="10947478" y="509516"/>
            <a:ext cx="898355" cy="367013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BF8201-6D6C-62CF-2D1C-B32D593EAF18}"/>
              </a:ext>
            </a:extLst>
          </p:cNvPr>
          <p:cNvSpPr txBox="1"/>
          <p:nvPr/>
        </p:nvSpPr>
        <p:spPr>
          <a:xfrm>
            <a:off x="416379" y="876529"/>
            <a:ext cx="36086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4D4D4E"/>
                </a:solidFill>
                <a:latin typeface="Perpetua" panose="02020502060401020303" pitchFamily="18" charset="0"/>
              </a:rPr>
              <a:t>Pump Cycle – The Connection Between Crop Circles and Bitcoin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2820855-8C47-E600-A3E6-481573832C01}"/>
              </a:ext>
            </a:extLst>
          </p:cNvPr>
          <p:cNvCxnSpPr>
            <a:cxnSpLocks/>
          </p:cNvCxnSpPr>
          <p:nvPr/>
        </p:nvCxnSpPr>
        <p:spPr>
          <a:xfrm>
            <a:off x="11753851" y="3502283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540C600-2855-6223-2F42-A25B733D2CEC}"/>
              </a:ext>
            </a:extLst>
          </p:cNvPr>
          <p:cNvSpPr txBox="1"/>
          <p:nvPr/>
        </p:nvSpPr>
        <p:spPr>
          <a:xfrm>
            <a:off x="9975541" y="2670920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B54EA5-893B-03DC-1511-261E51099408}"/>
              </a:ext>
            </a:extLst>
          </p:cNvPr>
          <p:cNvSpPr txBox="1"/>
          <p:nvPr/>
        </p:nvSpPr>
        <p:spPr>
          <a:xfrm>
            <a:off x="11554989" y="4075610"/>
            <a:ext cx="717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</a:rPr>
              <a:t>1/</a:t>
            </a:r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304393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0690A-1542-7A74-0358-C58B51A50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423935-CE7A-F63C-9751-C3DF7EAEE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4686"/>
            <a:ext cx="12192000" cy="3446804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F71ED1E5-E4D2-2C58-8B17-B3D35F860C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42" y="207711"/>
            <a:ext cx="2612367" cy="579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1C88E3C-85CF-1D6C-2E28-A4A87AEDAA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7434" y="118533"/>
            <a:ext cx="1581150" cy="1838325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4D4C8A9-E021-5591-F4C1-1BBCC7425F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863607"/>
              </p:ext>
            </p:extLst>
          </p:nvPr>
        </p:nvGraphicFramePr>
        <p:xfrm>
          <a:off x="5010156" y="192009"/>
          <a:ext cx="2698236" cy="165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1782">
                  <a:extLst>
                    <a:ext uri="{9D8B030D-6E8A-4147-A177-3AD203B41FA5}">
                      <a16:colId xmlns:a16="http://schemas.microsoft.com/office/drawing/2014/main" val="180192999"/>
                    </a:ext>
                  </a:extLst>
                </a:gridCol>
                <a:gridCol w="631782">
                  <a:extLst>
                    <a:ext uri="{9D8B030D-6E8A-4147-A177-3AD203B41FA5}">
                      <a16:colId xmlns:a16="http://schemas.microsoft.com/office/drawing/2014/main" val="876552772"/>
                    </a:ext>
                  </a:extLst>
                </a:gridCol>
                <a:gridCol w="750241">
                  <a:extLst>
                    <a:ext uri="{9D8B030D-6E8A-4147-A177-3AD203B41FA5}">
                      <a16:colId xmlns:a16="http://schemas.microsoft.com/office/drawing/2014/main" val="590476055"/>
                    </a:ext>
                  </a:extLst>
                </a:gridCol>
                <a:gridCol w="684431">
                  <a:extLst>
                    <a:ext uri="{9D8B030D-6E8A-4147-A177-3AD203B41FA5}">
                      <a16:colId xmlns:a16="http://schemas.microsoft.com/office/drawing/2014/main" val="2691916866"/>
                    </a:ext>
                  </a:extLst>
                </a:gridCol>
              </a:tblGrid>
              <a:tr h="330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 dirty="0">
                          <a:effectLst/>
                        </a:rPr>
                        <a:t>Days</a:t>
                      </a:r>
                      <a:endParaRPr lang="en-US" sz="1100" b="0" i="0" u="sng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Segment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Start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End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30698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139.4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11/9/2021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3/28/2022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397333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86.2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3/28/2022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6/22/2022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418168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86.2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6/22/2022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9/16/2022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88214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53.3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1/</a:t>
                      </a:r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9/16/2022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11/9/2022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44467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41BAD09-43D0-C9FA-9102-03BB7084B91D}"/>
              </a:ext>
            </a:extLst>
          </p:cNvPr>
          <p:cNvSpPr txBox="1"/>
          <p:nvPr/>
        </p:nvSpPr>
        <p:spPr>
          <a:xfrm>
            <a:off x="2862674" y="3063238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EFDC62-E9CC-6E35-A487-43D939D4E795}"/>
              </a:ext>
            </a:extLst>
          </p:cNvPr>
          <p:cNvSpPr txBox="1"/>
          <p:nvPr/>
        </p:nvSpPr>
        <p:spPr>
          <a:xfrm>
            <a:off x="6340715" y="3611878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41AEF-B8DF-0054-F02D-791C191A5AB2}"/>
              </a:ext>
            </a:extLst>
          </p:cNvPr>
          <p:cNvCxnSpPr>
            <a:cxnSpLocks/>
          </p:cNvCxnSpPr>
          <p:nvPr/>
        </p:nvCxnSpPr>
        <p:spPr>
          <a:xfrm>
            <a:off x="4827707" y="3263293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B7EC810-4091-94E3-E03B-90A3E7824B94}"/>
              </a:ext>
            </a:extLst>
          </p:cNvPr>
          <p:cNvCxnSpPr>
            <a:cxnSpLocks/>
          </p:cNvCxnSpPr>
          <p:nvPr/>
        </p:nvCxnSpPr>
        <p:spPr>
          <a:xfrm>
            <a:off x="7456927" y="4811926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159270AD-BA15-139E-A322-EF784A2A16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55" y="635372"/>
            <a:ext cx="4035230" cy="1208237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25742B0A-4AE7-E385-AAB7-F7657A4DC420}"/>
              </a:ext>
            </a:extLst>
          </p:cNvPr>
          <p:cNvSpPr/>
          <p:nvPr/>
        </p:nvSpPr>
        <p:spPr>
          <a:xfrm>
            <a:off x="10666955" y="667512"/>
            <a:ext cx="250981" cy="263236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BA946E-777E-92E9-9FA9-E1CC7612FB7A}"/>
              </a:ext>
            </a:extLst>
          </p:cNvPr>
          <p:cNvSpPr txBox="1"/>
          <p:nvPr/>
        </p:nvSpPr>
        <p:spPr>
          <a:xfrm>
            <a:off x="416379" y="876529"/>
            <a:ext cx="36086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4D4D4E"/>
                </a:solidFill>
                <a:latin typeface="Perpetua" panose="02020502060401020303" pitchFamily="18" charset="0"/>
              </a:rPr>
              <a:t>Pump Cycle – The Connection Between Crop Circles and Bitcoin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89CC7D5-B2A0-DDC2-B749-D66493F67A0E}"/>
              </a:ext>
            </a:extLst>
          </p:cNvPr>
          <p:cNvCxnSpPr>
            <a:cxnSpLocks/>
          </p:cNvCxnSpPr>
          <p:nvPr/>
        </p:nvCxnSpPr>
        <p:spPr>
          <a:xfrm>
            <a:off x="10113700" y="4896179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1DBDEB2-3F58-A8AD-6977-4D4344DF3D17}"/>
              </a:ext>
            </a:extLst>
          </p:cNvPr>
          <p:cNvSpPr txBox="1"/>
          <p:nvPr/>
        </p:nvSpPr>
        <p:spPr>
          <a:xfrm>
            <a:off x="8607267" y="4198033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C984F7-3526-D1EF-F439-1F3715CCFA08}"/>
              </a:ext>
            </a:extLst>
          </p:cNvPr>
          <p:cNvSpPr txBox="1"/>
          <p:nvPr/>
        </p:nvSpPr>
        <p:spPr>
          <a:xfrm>
            <a:off x="10746725" y="4598143"/>
            <a:ext cx="717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</a:rPr>
              <a:t>1/</a:t>
            </a:r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67166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415A6-62E9-3DA9-8593-7B485D262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D53C06-C3B3-2F1F-65A5-6A085D1E0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1605"/>
            <a:ext cx="12192000" cy="3533809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3BEC39C8-618B-18A5-A640-1026F77EC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42" y="207711"/>
            <a:ext cx="2612367" cy="579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547BF6B-19D3-2B8E-E3C9-B6D760E228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7434" y="118533"/>
            <a:ext cx="1581150" cy="1838325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D96E186-07AB-34E3-B0BB-68D9EE2F95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537539"/>
              </p:ext>
            </p:extLst>
          </p:nvPr>
        </p:nvGraphicFramePr>
        <p:xfrm>
          <a:off x="5010156" y="192009"/>
          <a:ext cx="2597120" cy="165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8106">
                  <a:extLst>
                    <a:ext uri="{9D8B030D-6E8A-4147-A177-3AD203B41FA5}">
                      <a16:colId xmlns:a16="http://schemas.microsoft.com/office/drawing/2014/main" val="180192999"/>
                    </a:ext>
                  </a:extLst>
                </a:gridCol>
                <a:gridCol w="608106">
                  <a:extLst>
                    <a:ext uri="{9D8B030D-6E8A-4147-A177-3AD203B41FA5}">
                      <a16:colId xmlns:a16="http://schemas.microsoft.com/office/drawing/2014/main" val="876552772"/>
                    </a:ext>
                  </a:extLst>
                </a:gridCol>
                <a:gridCol w="722126">
                  <a:extLst>
                    <a:ext uri="{9D8B030D-6E8A-4147-A177-3AD203B41FA5}">
                      <a16:colId xmlns:a16="http://schemas.microsoft.com/office/drawing/2014/main" val="590476055"/>
                    </a:ext>
                  </a:extLst>
                </a:gridCol>
                <a:gridCol w="658782">
                  <a:extLst>
                    <a:ext uri="{9D8B030D-6E8A-4147-A177-3AD203B41FA5}">
                      <a16:colId xmlns:a16="http://schemas.microsoft.com/office/drawing/2014/main" val="2691916866"/>
                    </a:ext>
                  </a:extLst>
                </a:gridCol>
              </a:tblGrid>
              <a:tr h="330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 dirty="0">
                          <a:effectLst/>
                        </a:rPr>
                        <a:t>Days</a:t>
                      </a:r>
                      <a:endParaRPr lang="en-US" sz="1100" b="0" i="0" u="sng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Segment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Start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End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30698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543.2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12/17/2017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6/13/2019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397333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335.7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6/13/2019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5/13/2020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418168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335.7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5/13/2020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4/14/2021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88214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207.5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1/</a:t>
                      </a:r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4/14/2021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11/8/2021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44467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55270D9-B571-462D-ABE4-AB6EE50D76C5}"/>
              </a:ext>
            </a:extLst>
          </p:cNvPr>
          <p:cNvSpPr txBox="1"/>
          <p:nvPr/>
        </p:nvSpPr>
        <p:spPr>
          <a:xfrm>
            <a:off x="2824096" y="4196920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68E696-ADC0-AA33-3595-75F6F51F23D7}"/>
              </a:ext>
            </a:extLst>
          </p:cNvPr>
          <p:cNvSpPr txBox="1"/>
          <p:nvPr/>
        </p:nvSpPr>
        <p:spPr>
          <a:xfrm>
            <a:off x="6036723" y="3996865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421927A-E4DD-B391-E01C-A1109C68E576}"/>
              </a:ext>
            </a:extLst>
          </p:cNvPr>
          <p:cNvCxnSpPr>
            <a:cxnSpLocks/>
          </p:cNvCxnSpPr>
          <p:nvPr/>
        </p:nvCxnSpPr>
        <p:spPr>
          <a:xfrm>
            <a:off x="4736267" y="4499915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BDF100D-4934-7641-F158-FA53FCDFE99B}"/>
              </a:ext>
            </a:extLst>
          </p:cNvPr>
          <p:cNvCxnSpPr>
            <a:cxnSpLocks/>
          </p:cNvCxnSpPr>
          <p:nvPr/>
        </p:nvCxnSpPr>
        <p:spPr>
          <a:xfrm>
            <a:off x="7420351" y="4368509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BF269D31-201C-563C-ADFA-A9BB0F2633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91" y="635372"/>
            <a:ext cx="4035230" cy="1208237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F235769A-6F39-71DD-5B70-0E8B609D4BF6}"/>
              </a:ext>
            </a:extLst>
          </p:cNvPr>
          <p:cNvSpPr/>
          <p:nvPr/>
        </p:nvSpPr>
        <p:spPr>
          <a:xfrm>
            <a:off x="9683496" y="607940"/>
            <a:ext cx="987551" cy="428609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5F1F33-31D8-73A4-B2CB-54157A6E2A98}"/>
              </a:ext>
            </a:extLst>
          </p:cNvPr>
          <p:cNvSpPr txBox="1"/>
          <p:nvPr/>
        </p:nvSpPr>
        <p:spPr>
          <a:xfrm>
            <a:off x="416379" y="876529"/>
            <a:ext cx="36086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4D4D4E"/>
                </a:solidFill>
                <a:latin typeface="Perpetua" panose="02020502060401020303" pitchFamily="18" charset="0"/>
              </a:rPr>
              <a:t>Pump Cycle – The Connection Between Crop Circles and Bitcoin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A932B88-7345-EE4D-314B-6B7E37C6EAAC}"/>
              </a:ext>
            </a:extLst>
          </p:cNvPr>
          <p:cNvCxnSpPr>
            <a:cxnSpLocks/>
          </p:cNvCxnSpPr>
          <p:nvPr/>
        </p:nvCxnSpPr>
        <p:spPr>
          <a:xfrm>
            <a:off x="10122407" y="2629037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808AC6F-863F-56D3-B433-0DAF1AAD5179}"/>
              </a:ext>
            </a:extLst>
          </p:cNvPr>
          <p:cNvSpPr txBox="1"/>
          <p:nvPr/>
        </p:nvSpPr>
        <p:spPr>
          <a:xfrm>
            <a:off x="8634699" y="3429000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504458-3DEE-7971-9D83-B20BE701E1B6}"/>
              </a:ext>
            </a:extLst>
          </p:cNvPr>
          <p:cNvSpPr txBox="1"/>
          <p:nvPr/>
        </p:nvSpPr>
        <p:spPr>
          <a:xfrm>
            <a:off x="10798544" y="2337578"/>
            <a:ext cx="717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</a:rPr>
              <a:t>1/</a:t>
            </a:r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953807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D14D1-E27C-553F-4341-F3F552593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B78A449-BAF4-3789-7C82-41181D123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72483"/>
            <a:ext cx="12192000" cy="3560121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0095FC8A-D7AE-DCEA-0C96-3570A98F1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42" y="207711"/>
            <a:ext cx="2612367" cy="579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BE8EB6A-205C-B4D5-355B-FD684E22E3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7434" y="118533"/>
            <a:ext cx="1581150" cy="1838325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D7633BB-40A3-B2F6-92B7-AEC8447A79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9488444"/>
              </p:ext>
            </p:extLst>
          </p:nvPr>
        </p:nvGraphicFramePr>
        <p:xfrm>
          <a:off x="5010154" y="192009"/>
          <a:ext cx="2766809" cy="165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7838">
                  <a:extLst>
                    <a:ext uri="{9D8B030D-6E8A-4147-A177-3AD203B41FA5}">
                      <a16:colId xmlns:a16="http://schemas.microsoft.com/office/drawing/2014/main" val="180192999"/>
                    </a:ext>
                  </a:extLst>
                </a:gridCol>
                <a:gridCol w="647838">
                  <a:extLst>
                    <a:ext uri="{9D8B030D-6E8A-4147-A177-3AD203B41FA5}">
                      <a16:colId xmlns:a16="http://schemas.microsoft.com/office/drawing/2014/main" val="876552772"/>
                    </a:ext>
                  </a:extLst>
                </a:gridCol>
                <a:gridCol w="769308">
                  <a:extLst>
                    <a:ext uri="{9D8B030D-6E8A-4147-A177-3AD203B41FA5}">
                      <a16:colId xmlns:a16="http://schemas.microsoft.com/office/drawing/2014/main" val="590476055"/>
                    </a:ext>
                  </a:extLst>
                </a:gridCol>
                <a:gridCol w="701825">
                  <a:extLst>
                    <a:ext uri="{9D8B030D-6E8A-4147-A177-3AD203B41FA5}">
                      <a16:colId xmlns:a16="http://schemas.microsoft.com/office/drawing/2014/main" val="2691916866"/>
                    </a:ext>
                  </a:extLst>
                </a:gridCol>
              </a:tblGrid>
              <a:tr h="330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 dirty="0">
                          <a:effectLst/>
                        </a:rPr>
                        <a:t>Days</a:t>
                      </a:r>
                      <a:endParaRPr lang="en-US" sz="1100" b="0" i="0" u="sng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Segment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Start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End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30698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109.6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3/4/2017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6/21/2017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397333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67.8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6/21/2017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8/28/2017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418168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67.8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8/28/2017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11/4/2017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88214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41.9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1/</a:t>
                      </a:r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11/4/2017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12/16/2017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44467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C928FB7-01D0-493C-929A-A9F162FCAC3A}"/>
              </a:ext>
            </a:extLst>
          </p:cNvPr>
          <p:cNvSpPr txBox="1"/>
          <p:nvPr/>
        </p:nvSpPr>
        <p:spPr>
          <a:xfrm>
            <a:off x="2693832" y="4242719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8B4F22-3D06-C0AD-9C66-11B079D7458A}"/>
              </a:ext>
            </a:extLst>
          </p:cNvPr>
          <p:cNvSpPr txBox="1"/>
          <p:nvPr/>
        </p:nvSpPr>
        <p:spPr>
          <a:xfrm>
            <a:off x="6036723" y="3996865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B83CA06-6742-D76D-D4BE-1C767AE312A4}"/>
              </a:ext>
            </a:extLst>
          </p:cNvPr>
          <p:cNvCxnSpPr>
            <a:cxnSpLocks/>
          </p:cNvCxnSpPr>
          <p:nvPr/>
        </p:nvCxnSpPr>
        <p:spPr>
          <a:xfrm>
            <a:off x="4864283" y="4368509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516D4A2-6252-B101-474E-A2B1E9852470}"/>
              </a:ext>
            </a:extLst>
          </p:cNvPr>
          <p:cNvCxnSpPr>
            <a:cxnSpLocks/>
          </p:cNvCxnSpPr>
          <p:nvPr/>
        </p:nvCxnSpPr>
        <p:spPr>
          <a:xfrm>
            <a:off x="7447783" y="3848335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9DB31617-694B-516C-DBFA-FB3D9CFF70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399" y="635372"/>
            <a:ext cx="4035230" cy="1208237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04CAC522-2893-0686-1F6A-86DB4108AD14}"/>
              </a:ext>
            </a:extLst>
          </p:cNvPr>
          <p:cNvSpPr/>
          <p:nvPr/>
        </p:nvSpPr>
        <p:spPr>
          <a:xfrm>
            <a:off x="9585252" y="783838"/>
            <a:ext cx="179687" cy="284733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11DA5E-0EED-A8E1-1DA8-F93CF8C38632}"/>
              </a:ext>
            </a:extLst>
          </p:cNvPr>
          <p:cNvSpPr txBox="1"/>
          <p:nvPr/>
        </p:nvSpPr>
        <p:spPr>
          <a:xfrm>
            <a:off x="416379" y="876529"/>
            <a:ext cx="36086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4D4D4E"/>
                </a:solidFill>
                <a:latin typeface="Perpetua" panose="02020502060401020303" pitchFamily="18" charset="0"/>
              </a:rPr>
              <a:t>Pump Cycle – The Connection Between Crop Circles and Bitcoin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E33E17A-717A-6967-1D2B-6FF6B951BAF5}"/>
              </a:ext>
            </a:extLst>
          </p:cNvPr>
          <p:cNvCxnSpPr>
            <a:cxnSpLocks/>
          </p:cNvCxnSpPr>
          <p:nvPr/>
        </p:nvCxnSpPr>
        <p:spPr>
          <a:xfrm>
            <a:off x="10113263" y="3429000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4B0B87C-9AD8-5417-7E2D-96228BD6C752}"/>
              </a:ext>
            </a:extLst>
          </p:cNvPr>
          <p:cNvSpPr txBox="1"/>
          <p:nvPr/>
        </p:nvSpPr>
        <p:spPr>
          <a:xfrm>
            <a:off x="8634699" y="3429000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F9EE36-66CA-9202-E54E-2187FD19509A}"/>
              </a:ext>
            </a:extLst>
          </p:cNvPr>
          <p:cNvSpPr txBox="1"/>
          <p:nvPr/>
        </p:nvSpPr>
        <p:spPr>
          <a:xfrm>
            <a:off x="10688816" y="2459234"/>
            <a:ext cx="717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</a:rPr>
              <a:t>1/</a:t>
            </a:r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954845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5AA33-BBB2-1DD7-7D1E-A563290E9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289FA2-5317-A274-975F-2FAE8197D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45123"/>
            <a:ext cx="12192000" cy="3525737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92532BBC-9D2B-F4F0-C380-FB2A6DC26A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42" y="207711"/>
            <a:ext cx="2612367" cy="579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21E266C-212F-7A97-C6F8-89AFCA3D3C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7434" y="118533"/>
            <a:ext cx="1581150" cy="1838325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08A28AD-DBEE-DE14-E038-B92AB0F3AB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1206120"/>
              </p:ext>
            </p:extLst>
          </p:nvPr>
        </p:nvGraphicFramePr>
        <p:xfrm>
          <a:off x="5010154" y="192009"/>
          <a:ext cx="2766809" cy="165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7838">
                  <a:extLst>
                    <a:ext uri="{9D8B030D-6E8A-4147-A177-3AD203B41FA5}">
                      <a16:colId xmlns:a16="http://schemas.microsoft.com/office/drawing/2014/main" val="180192999"/>
                    </a:ext>
                  </a:extLst>
                </a:gridCol>
                <a:gridCol w="647838">
                  <a:extLst>
                    <a:ext uri="{9D8B030D-6E8A-4147-A177-3AD203B41FA5}">
                      <a16:colId xmlns:a16="http://schemas.microsoft.com/office/drawing/2014/main" val="876552772"/>
                    </a:ext>
                  </a:extLst>
                </a:gridCol>
                <a:gridCol w="769308">
                  <a:extLst>
                    <a:ext uri="{9D8B030D-6E8A-4147-A177-3AD203B41FA5}">
                      <a16:colId xmlns:a16="http://schemas.microsoft.com/office/drawing/2014/main" val="590476055"/>
                    </a:ext>
                  </a:extLst>
                </a:gridCol>
                <a:gridCol w="701825">
                  <a:extLst>
                    <a:ext uri="{9D8B030D-6E8A-4147-A177-3AD203B41FA5}">
                      <a16:colId xmlns:a16="http://schemas.microsoft.com/office/drawing/2014/main" val="2691916866"/>
                    </a:ext>
                  </a:extLst>
                </a:gridCol>
              </a:tblGrid>
              <a:tr h="330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 dirty="0">
                          <a:effectLst/>
                        </a:rPr>
                        <a:t>Days</a:t>
                      </a:r>
                      <a:endParaRPr lang="en-US" sz="1100" b="0" i="0" u="sng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Segment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Start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End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30698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335.7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10/6/2014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9/6/2015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397333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207.5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9/6/2015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4/1/2016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418168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207.5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4/1/2016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10/25/2016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88214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128.2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1/</a:t>
                      </a:r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10/25/2016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3/3/2017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44467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947E04C-8308-11C5-0C96-AFF467B8A4AC}"/>
              </a:ext>
            </a:extLst>
          </p:cNvPr>
          <p:cNvSpPr txBox="1"/>
          <p:nvPr/>
        </p:nvSpPr>
        <p:spPr>
          <a:xfrm>
            <a:off x="2801233" y="4342111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F5ABC6-ECDB-675E-7F11-022855F08950}"/>
              </a:ext>
            </a:extLst>
          </p:cNvPr>
          <p:cNvSpPr txBox="1"/>
          <p:nvPr/>
        </p:nvSpPr>
        <p:spPr>
          <a:xfrm>
            <a:off x="6036723" y="3996865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579A921-7A90-D6D8-DF1C-9FFC9303BD2E}"/>
              </a:ext>
            </a:extLst>
          </p:cNvPr>
          <p:cNvCxnSpPr>
            <a:cxnSpLocks/>
          </p:cNvCxnSpPr>
          <p:nvPr/>
        </p:nvCxnSpPr>
        <p:spPr>
          <a:xfrm>
            <a:off x="4910003" y="5090885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3649DB3-5700-7527-4B58-E3EE98868C0C}"/>
              </a:ext>
            </a:extLst>
          </p:cNvPr>
          <p:cNvCxnSpPr>
            <a:cxnSpLocks/>
          </p:cNvCxnSpPr>
          <p:nvPr/>
        </p:nvCxnSpPr>
        <p:spPr>
          <a:xfrm>
            <a:off x="7530079" y="4294068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FAE36305-1E85-47F8-6BC2-AC6C09F98E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399" y="635372"/>
            <a:ext cx="4035230" cy="1208237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E5B52FAB-A960-CD6F-DECD-C41B4B39B84C}"/>
              </a:ext>
            </a:extLst>
          </p:cNvPr>
          <p:cNvSpPr/>
          <p:nvPr/>
        </p:nvSpPr>
        <p:spPr>
          <a:xfrm>
            <a:off x="9004852" y="895328"/>
            <a:ext cx="589135" cy="284733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F73371-923B-5E54-C23F-23D237741267}"/>
              </a:ext>
            </a:extLst>
          </p:cNvPr>
          <p:cNvSpPr txBox="1"/>
          <p:nvPr/>
        </p:nvSpPr>
        <p:spPr>
          <a:xfrm>
            <a:off x="416379" y="876529"/>
            <a:ext cx="36086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4D4D4E"/>
                </a:solidFill>
                <a:latin typeface="Perpetua" panose="02020502060401020303" pitchFamily="18" charset="0"/>
              </a:rPr>
              <a:t>Pump Cycle – The Connection Between Crop Circles and Bitcoin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C703B84-E67D-FCEC-3C74-9890CCBA6859}"/>
              </a:ext>
            </a:extLst>
          </p:cNvPr>
          <p:cNvCxnSpPr>
            <a:cxnSpLocks/>
          </p:cNvCxnSpPr>
          <p:nvPr/>
        </p:nvCxnSpPr>
        <p:spPr>
          <a:xfrm>
            <a:off x="10131551" y="3694079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543E9D2-40B6-FBB0-D562-B49DE3EDA5DE}"/>
              </a:ext>
            </a:extLst>
          </p:cNvPr>
          <p:cNvSpPr txBox="1"/>
          <p:nvPr/>
        </p:nvSpPr>
        <p:spPr>
          <a:xfrm>
            <a:off x="8842587" y="3429000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833665-36B1-3FF8-402D-352A8AD10CF3}"/>
              </a:ext>
            </a:extLst>
          </p:cNvPr>
          <p:cNvSpPr txBox="1"/>
          <p:nvPr/>
        </p:nvSpPr>
        <p:spPr>
          <a:xfrm>
            <a:off x="10560800" y="2745123"/>
            <a:ext cx="717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</a:rPr>
              <a:t>1/</a:t>
            </a:r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505991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831E5-8C98-3B54-6753-5FD875D54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5C502B-E9C1-3CE4-7B1E-65359FED7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24786"/>
            <a:ext cx="12192000" cy="3602988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C47EEDD8-46D9-EA2B-E609-128DEA629A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42" y="207711"/>
            <a:ext cx="2612367" cy="579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1920573-8989-5271-8979-89F3E876D8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7434" y="118533"/>
            <a:ext cx="1581150" cy="1838325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E7B06D4-65DC-C6EF-CF7B-D9B92D8AD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019539"/>
              </p:ext>
            </p:extLst>
          </p:nvPr>
        </p:nvGraphicFramePr>
        <p:xfrm>
          <a:off x="5010154" y="192009"/>
          <a:ext cx="2766809" cy="165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7838">
                  <a:extLst>
                    <a:ext uri="{9D8B030D-6E8A-4147-A177-3AD203B41FA5}">
                      <a16:colId xmlns:a16="http://schemas.microsoft.com/office/drawing/2014/main" val="180192999"/>
                    </a:ext>
                  </a:extLst>
                </a:gridCol>
                <a:gridCol w="647838">
                  <a:extLst>
                    <a:ext uri="{9D8B030D-6E8A-4147-A177-3AD203B41FA5}">
                      <a16:colId xmlns:a16="http://schemas.microsoft.com/office/drawing/2014/main" val="876552772"/>
                    </a:ext>
                  </a:extLst>
                </a:gridCol>
                <a:gridCol w="769308">
                  <a:extLst>
                    <a:ext uri="{9D8B030D-6E8A-4147-A177-3AD203B41FA5}">
                      <a16:colId xmlns:a16="http://schemas.microsoft.com/office/drawing/2014/main" val="590476055"/>
                    </a:ext>
                  </a:extLst>
                </a:gridCol>
                <a:gridCol w="701825">
                  <a:extLst>
                    <a:ext uri="{9D8B030D-6E8A-4147-A177-3AD203B41FA5}">
                      <a16:colId xmlns:a16="http://schemas.microsoft.com/office/drawing/2014/main" val="2691916866"/>
                    </a:ext>
                  </a:extLst>
                </a:gridCol>
              </a:tblGrid>
              <a:tr h="330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 dirty="0">
                          <a:effectLst/>
                        </a:rPr>
                        <a:t>Days</a:t>
                      </a:r>
                      <a:endParaRPr lang="en-US" sz="1100" b="0" i="0" u="sng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Segment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Start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End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30698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116.1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12/5/2013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3/31/2014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397333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71.8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3/31/2014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6/10/2014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418168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71.8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6/10/2014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8/21/2014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88214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44.4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1/</a:t>
                      </a:r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8/21/2014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10/5/2014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44467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EBF881F-A7B3-6EDE-CA63-95C47DECDD60}"/>
              </a:ext>
            </a:extLst>
          </p:cNvPr>
          <p:cNvSpPr txBox="1"/>
          <p:nvPr/>
        </p:nvSpPr>
        <p:spPr>
          <a:xfrm>
            <a:off x="2705894" y="4547777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857BA0-932D-3DA5-7793-FC03F38B1331}"/>
              </a:ext>
            </a:extLst>
          </p:cNvPr>
          <p:cNvSpPr txBox="1"/>
          <p:nvPr/>
        </p:nvSpPr>
        <p:spPr>
          <a:xfrm>
            <a:off x="6036723" y="3996865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830F8FB-52B0-3667-86E5-52FFDB5640CD}"/>
              </a:ext>
            </a:extLst>
          </p:cNvPr>
          <p:cNvCxnSpPr>
            <a:cxnSpLocks/>
          </p:cNvCxnSpPr>
          <p:nvPr/>
        </p:nvCxnSpPr>
        <p:spPr>
          <a:xfrm>
            <a:off x="4900859" y="4688549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41260E6-217E-43F7-4730-A75323933DAD}"/>
              </a:ext>
            </a:extLst>
          </p:cNvPr>
          <p:cNvCxnSpPr>
            <a:cxnSpLocks/>
          </p:cNvCxnSpPr>
          <p:nvPr/>
        </p:nvCxnSpPr>
        <p:spPr>
          <a:xfrm>
            <a:off x="7511791" y="3946499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7C551536-EDB3-85DA-E66F-25B67639B2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399" y="635372"/>
            <a:ext cx="4035230" cy="1208237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4559E4A6-BB0A-DFEE-108F-6EA8C77CF9B4}"/>
              </a:ext>
            </a:extLst>
          </p:cNvPr>
          <p:cNvSpPr/>
          <p:nvPr/>
        </p:nvSpPr>
        <p:spPr>
          <a:xfrm>
            <a:off x="8790946" y="880758"/>
            <a:ext cx="221890" cy="284733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AB10A1-C4C5-DAD8-3F5A-33B6CD2709FB}"/>
              </a:ext>
            </a:extLst>
          </p:cNvPr>
          <p:cNvSpPr txBox="1"/>
          <p:nvPr/>
        </p:nvSpPr>
        <p:spPr>
          <a:xfrm>
            <a:off x="416379" y="876529"/>
            <a:ext cx="36086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4D4D4E"/>
                </a:solidFill>
                <a:latin typeface="Perpetua" panose="02020502060401020303" pitchFamily="18" charset="0"/>
              </a:rPr>
              <a:t>Pump Cycle – The Connection Between Crop Circles and Bitcoin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CFF08E2-E4AA-1824-3044-E6B8185A5998}"/>
              </a:ext>
            </a:extLst>
          </p:cNvPr>
          <p:cNvCxnSpPr>
            <a:cxnSpLocks/>
          </p:cNvCxnSpPr>
          <p:nvPr/>
        </p:nvCxnSpPr>
        <p:spPr>
          <a:xfrm>
            <a:off x="10122407" y="4464271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F06C8AD-A9C5-E598-003E-D7FADE7A9301}"/>
              </a:ext>
            </a:extLst>
          </p:cNvPr>
          <p:cNvSpPr txBox="1"/>
          <p:nvPr/>
        </p:nvSpPr>
        <p:spPr>
          <a:xfrm>
            <a:off x="8842587" y="3611880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AB398A-001F-430C-8A44-42C141AD5286}"/>
              </a:ext>
            </a:extLst>
          </p:cNvPr>
          <p:cNvSpPr txBox="1"/>
          <p:nvPr/>
        </p:nvSpPr>
        <p:spPr>
          <a:xfrm>
            <a:off x="10865480" y="4347722"/>
            <a:ext cx="717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</a:rPr>
              <a:t>1/</a:t>
            </a:r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943893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15C42-C717-4BD6-14FD-11BA9A72C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D5CD7C-97BC-E3E0-3D76-52F0266B1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37616"/>
            <a:ext cx="12192000" cy="3574991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09D46337-0893-FF03-41B8-076CCE7A4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42" y="207711"/>
            <a:ext cx="2612367" cy="579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5847319-3A21-82F6-9DB5-21295F537A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7434" y="118533"/>
            <a:ext cx="1581150" cy="1838325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7E1F69E-F961-8C66-9CE5-61E7442430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5880186"/>
              </p:ext>
            </p:extLst>
          </p:nvPr>
        </p:nvGraphicFramePr>
        <p:xfrm>
          <a:off x="5010154" y="192009"/>
          <a:ext cx="2766809" cy="165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7838">
                  <a:extLst>
                    <a:ext uri="{9D8B030D-6E8A-4147-A177-3AD203B41FA5}">
                      <a16:colId xmlns:a16="http://schemas.microsoft.com/office/drawing/2014/main" val="180192999"/>
                    </a:ext>
                  </a:extLst>
                </a:gridCol>
                <a:gridCol w="647838">
                  <a:extLst>
                    <a:ext uri="{9D8B030D-6E8A-4147-A177-3AD203B41FA5}">
                      <a16:colId xmlns:a16="http://schemas.microsoft.com/office/drawing/2014/main" val="876552772"/>
                    </a:ext>
                  </a:extLst>
                </a:gridCol>
                <a:gridCol w="769308">
                  <a:extLst>
                    <a:ext uri="{9D8B030D-6E8A-4147-A177-3AD203B41FA5}">
                      <a16:colId xmlns:a16="http://schemas.microsoft.com/office/drawing/2014/main" val="590476055"/>
                    </a:ext>
                  </a:extLst>
                </a:gridCol>
                <a:gridCol w="701825">
                  <a:extLst>
                    <a:ext uri="{9D8B030D-6E8A-4147-A177-3AD203B41FA5}">
                      <a16:colId xmlns:a16="http://schemas.microsoft.com/office/drawing/2014/main" val="2691916866"/>
                    </a:ext>
                  </a:extLst>
                </a:gridCol>
              </a:tblGrid>
              <a:tr h="330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 dirty="0">
                          <a:effectLst/>
                        </a:rPr>
                        <a:t>Days</a:t>
                      </a:r>
                      <a:endParaRPr lang="en-US" sz="1100" b="0" i="0" u="sng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Segment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Start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End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30698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90.9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4/10/2013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7/9/2013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397333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56.2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7/9/2013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9/4/2013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418168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56.2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9/4/2013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10/30/2013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88214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34.7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1/</a:t>
                      </a:r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10/30/2013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12/4/2013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44467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16887D3-16FF-8727-BD5D-B1541BA0AE59}"/>
              </a:ext>
            </a:extLst>
          </p:cNvPr>
          <p:cNvSpPr txBox="1"/>
          <p:nvPr/>
        </p:nvSpPr>
        <p:spPr>
          <a:xfrm>
            <a:off x="2817279" y="4337464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179BC3-3298-5274-8797-C0A475126F0B}"/>
              </a:ext>
            </a:extLst>
          </p:cNvPr>
          <p:cNvSpPr txBox="1"/>
          <p:nvPr/>
        </p:nvSpPr>
        <p:spPr>
          <a:xfrm>
            <a:off x="6069028" y="4464271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99C9747-C8B5-B42E-C0E5-B16879B5C630}"/>
              </a:ext>
            </a:extLst>
          </p:cNvPr>
          <p:cNvCxnSpPr>
            <a:cxnSpLocks/>
          </p:cNvCxnSpPr>
          <p:nvPr/>
        </p:nvCxnSpPr>
        <p:spPr>
          <a:xfrm>
            <a:off x="4855139" y="5109173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5A05142-1621-B281-319F-ABC643EFCB8C}"/>
              </a:ext>
            </a:extLst>
          </p:cNvPr>
          <p:cNvCxnSpPr>
            <a:cxnSpLocks/>
          </p:cNvCxnSpPr>
          <p:nvPr/>
        </p:nvCxnSpPr>
        <p:spPr>
          <a:xfrm>
            <a:off x="7511791" y="4670874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CC4FA74E-03C7-CB84-56A6-85FD71E33D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399" y="635372"/>
            <a:ext cx="4035230" cy="1208237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86D691F5-B94E-BD48-D0D5-19E339D25DDB}"/>
              </a:ext>
            </a:extLst>
          </p:cNvPr>
          <p:cNvSpPr/>
          <p:nvPr/>
        </p:nvSpPr>
        <p:spPr>
          <a:xfrm>
            <a:off x="8639032" y="950208"/>
            <a:ext cx="172871" cy="284733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C2DC20-30E5-BC59-7892-226F653ABEA4}"/>
              </a:ext>
            </a:extLst>
          </p:cNvPr>
          <p:cNvSpPr txBox="1"/>
          <p:nvPr/>
        </p:nvSpPr>
        <p:spPr>
          <a:xfrm>
            <a:off x="416379" y="876529"/>
            <a:ext cx="36086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4D4D4E"/>
                </a:solidFill>
                <a:latin typeface="Perpetua" panose="02020502060401020303" pitchFamily="18" charset="0"/>
              </a:rPr>
              <a:t>Pump Cycle – The Connection Between Crop Circles and Bitcoin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6E3FF27-88CA-8FCB-ED4D-A52107D7D75B}"/>
              </a:ext>
            </a:extLst>
          </p:cNvPr>
          <p:cNvCxnSpPr>
            <a:cxnSpLocks/>
          </p:cNvCxnSpPr>
          <p:nvPr/>
        </p:nvCxnSpPr>
        <p:spPr>
          <a:xfrm>
            <a:off x="10186415" y="4184016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A8EB04C-2282-B186-EAB5-8F06B295E958}"/>
              </a:ext>
            </a:extLst>
          </p:cNvPr>
          <p:cNvSpPr txBox="1"/>
          <p:nvPr/>
        </p:nvSpPr>
        <p:spPr>
          <a:xfrm>
            <a:off x="8743651" y="4137409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0FC7BB-C02A-6E35-9EAA-41E9CCA2109A}"/>
              </a:ext>
            </a:extLst>
          </p:cNvPr>
          <p:cNvSpPr txBox="1"/>
          <p:nvPr/>
        </p:nvSpPr>
        <p:spPr>
          <a:xfrm>
            <a:off x="10563728" y="2533680"/>
            <a:ext cx="717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</a:rPr>
              <a:t>1/</a:t>
            </a:r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768728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50FAF-6D11-2E30-385B-45B9A1AC0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A525E4-1E6E-F046-D002-DAE423631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" y="2643985"/>
            <a:ext cx="12192000" cy="3526845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47B9CD55-6364-7F13-2A8F-4E6E6772D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42" y="207711"/>
            <a:ext cx="2612367" cy="579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D508F0F-C122-D716-76D0-9756CBEDC3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7434" y="118533"/>
            <a:ext cx="1581150" cy="1838325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2EC9B14-8EA0-D702-E900-DCAB7D08F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722899"/>
              </p:ext>
            </p:extLst>
          </p:nvPr>
        </p:nvGraphicFramePr>
        <p:xfrm>
          <a:off x="5010154" y="192009"/>
          <a:ext cx="2766809" cy="165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7838">
                  <a:extLst>
                    <a:ext uri="{9D8B030D-6E8A-4147-A177-3AD203B41FA5}">
                      <a16:colId xmlns:a16="http://schemas.microsoft.com/office/drawing/2014/main" val="180192999"/>
                    </a:ext>
                  </a:extLst>
                </a:gridCol>
                <a:gridCol w="647838">
                  <a:extLst>
                    <a:ext uri="{9D8B030D-6E8A-4147-A177-3AD203B41FA5}">
                      <a16:colId xmlns:a16="http://schemas.microsoft.com/office/drawing/2014/main" val="876552772"/>
                    </a:ext>
                  </a:extLst>
                </a:gridCol>
                <a:gridCol w="769308">
                  <a:extLst>
                    <a:ext uri="{9D8B030D-6E8A-4147-A177-3AD203B41FA5}">
                      <a16:colId xmlns:a16="http://schemas.microsoft.com/office/drawing/2014/main" val="590476055"/>
                    </a:ext>
                  </a:extLst>
                </a:gridCol>
                <a:gridCol w="701825">
                  <a:extLst>
                    <a:ext uri="{9D8B030D-6E8A-4147-A177-3AD203B41FA5}">
                      <a16:colId xmlns:a16="http://schemas.microsoft.com/office/drawing/2014/main" val="2691916866"/>
                    </a:ext>
                  </a:extLst>
                </a:gridCol>
              </a:tblGrid>
              <a:tr h="330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 dirty="0">
                          <a:effectLst/>
                        </a:rPr>
                        <a:t>Days</a:t>
                      </a:r>
                      <a:endParaRPr lang="en-US" sz="1100" b="0" i="0" u="sng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Segment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Start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End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30698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255.9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6/9/2011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2/19/2012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397333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158.2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2/19/2012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7/27/2012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418168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158.2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7/27/2012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1/1/2013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88214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97.8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1/</a:t>
                      </a:r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1/1/2013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4/9/2013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44467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8BE6523-76D2-5AE3-6C61-4C1AAA01DC13}"/>
              </a:ext>
            </a:extLst>
          </p:cNvPr>
          <p:cNvSpPr txBox="1"/>
          <p:nvPr/>
        </p:nvSpPr>
        <p:spPr>
          <a:xfrm>
            <a:off x="2817279" y="4337464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D3B986-A92F-466B-4A2C-80384374AD9C}"/>
              </a:ext>
            </a:extLst>
          </p:cNvPr>
          <p:cNvSpPr txBox="1"/>
          <p:nvPr/>
        </p:nvSpPr>
        <p:spPr>
          <a:xfrm>
            <a:off x="6069028" y="4464271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DFBB488-E91B-C1DC-EB36-20E56F5B940D}"/>
              </a:ext>
            </a:extLst>
          </p:cNvPr>
          <p:cNvCxnSpPr>
            <a:cxnSpLocks/>
          </p:cNvCxnSpPr>
          <p:nvPr/>
        </p:nvCxnSpPr>
        <p:spPr>
          <a:xfrm>
            <a:off x="4818563" y="4864381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C75912F-7712-8A27-6B7B-46CEE1E2DCF0}"/>
              </a:ext>
            </a:extLst>
          </p:cNvPr>
          <p:cNvCxnSpPr>
            <a:cxnSpLocks/>
          </p:cNvCxnSpPr>
          <p:nvPr/>
        </p:nvCxnSpPr>
        <p:spPr>
          <a:xfrm>
            <a:off x="7484359" y="4464271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39DB4F7F-0F0B-2826-6F04-71FB1A5F6E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399" y="635372"/>
            <a:ext cx="4035230" cy="1208237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34DD90AB-84C2-135B-D13D-C18FD8C09C0B}"/>
              </a:ext>
            </a:extLst>
          </p:cNvPr>
          <p:cNvSpPr/>
          <p:nvPr/>
        </p:nvSpPr>
        <p:spPr>
          <a:xfrm>
            <a:off x="8200406" y="1059636"/>
            <a:ext cx="460994" cy="353738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2D883F-5666-63EF-41D6-CB81E8DC3857}"/>
              </a:ext>
            </a:extLst>
          </p:cNvPr>
          <p:cNvSpPr txBox="1"/>
          <p:nvPr/>
        </p:nvSpPr>
        <p:spPr>
          <a:xfrm>
            <a:off x="416379" y="876529"/>
            <a:ext cx="36086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4D4D4E"/>
                </a:solidFill>
                <a:latin typeface="Perpetua" panose="02020502060401020303" pitchFamily="18" charset="0"/>
              </a:rPr>
              <a:t>Pump Cycle – The Connection Between Crop Circles and Bitcoin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04B475B-B721-9DE6-8C3F-36A6BF257709}"/>
              </a:ext>
            </a:extLst>
          </p:cNvPr>
          <p:cNvCxnSpPr>
            <a:cxnSpLocks/>
          </p:cNvCxnSpPr>
          <p:nvPr/>
        </p:nvCxnSpPr>
        <p:spPr>
          <a:xfrm>
            <a:off x="10131551" y="4188934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1200E7D-CEC6-2493-5299-D1B443C5F647}"/>
              </a:ext>
            </a:extLst>
          </p:cNvPr>
          <p:cNvSpPr txBox="1"/>
          <p:nvPr/>
        </p:nvSpPr>
        <p:spPr>
          <a:xfrm>
            <a:off x="8835091" y="4027681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780F06-1005-66B4-2241-E00BCCEDB719}"/>
              </a:ext>
            </a:extLst>
          </p:cNvPr>
          <p:cNvSpPr txBox="1"/>
          <p:nvPr/>
        </p:nvSpPr>
        <p:spPr>
          <a:xfrm>
            <a:off x="10527152" y="2899440"/>
            <a:ext cx="717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</a:rPr>
              <a:t>1/</a:t>
            </a:r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380582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2DFAB-E445-590C-9BB0-65CE8C111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4BE4DC-203A-2EA3-D3F2-10046E678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288" y="2451640"/>
            <a:ext cx="12192000" cy="3728656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57B25882-0AB2-3F13-24D1-618F45D470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42" y="207711"/>
            <a:ext cx="2612367" cy="579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82CA71C-0C70-1B3F-7053-7BB6AA48C5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7434" y="118533"/>
            <a:ext cx="1581150" cy="1838325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4ED8583-7C06-7067-91B5-16A3B92C80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941545"/>
              </p:ext>
            </p:extLst>
          </p:nvPr>
        </p:nvGraphicFramePr>
        <p:xfrm>
          <a:off x="5010154" y="192009"/>
          <a:ext cx="2766809" cy="165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7838">
                  <a:extLst>
                    <a:ext uri="{9D8B030D-6E8A-4147-A177-3AD203B41FA5}">
                      <a16:colId xmlns:a16="http://schemas.microsoft.com/office/drawing/2014/main" val="180192999"/>
                    </a:ext>
                  </a:extLst>
                </a:gridCol>
                <a:gridCol w="647838">
                  <a:extLst>
                    <a:ext uri="{9D8B030D-6E8A-4147-A177-3AD203B41FA5}">
                      <a16:colId xmlns:a16="http://schemas.microsoft.com/office/drawing/2014/main" val="876552772"/>
                    </a:ext>
                  </a:extLst>
                </a:gridCol>
                <a:gridCol w="769308">
                  <a:extLst>
                    <a:ext uri="{9D8B030D-6E8A-4147-A177-3AD203B41FA5}">
                      <a16:colId xmlns:a16="http://schemas.microsoft.com/office/drawing/2014/main" val="590476055"/>
                    </a:ext>
                  </a:extLst>
                </a:gridCol>
                <a:gridCol w="701825">
                  <a:extLst>
                    <a:ext uri="{9D8B030D-6E8A-4147-A177-3AD203B41FA5}">
                      <a16:colId xmlns:a16="http://schemas.microsoft.com/office/drawing/2014/main" val="2691916866"/>
                    </a:ext>
                  </a:extLst>
                </a:gridCol>
              </a:tblGrid>
              <a:tr h="330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 dirty="0">
                          <a:effectLst/>
                        </a:rPr>
                        <a:t>Days</a:t>
                      </a:r>
                      <a:endParaRPr lang="en-US" sz="1100" b="0" i="0" u="sng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Segment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Start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End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30698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43.9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2/13/2011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3/28/2011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397333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3/28/2011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4/25/2011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418168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4/25/2011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5/22/2011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88214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16.8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1/</a:t>
                      </a:r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5/22/2011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6/8/2011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44467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58BCFF7-615D-9CCD-E1B6-752B50B345EE}"/>
              </a:ext>
            </a:extLst>
          </p:cNvPr>
          <p:cNvSpPr txBox="1"/>
          <p:nvPr/>
        </p:nvSpPr>
        <p:spPr>
          <a:xfrm>
            <a:off x="2351605" y="4674583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B874D7-CB6F-8E85-4DF8-162601DE4D60}"/>
              </a:ext>
            </a:extLst>
          </p:cNvPr>
          <p:cNvSpPr txBox="1"/>
          <p:nvPr/>
        </p:nvSpPr>
        <p:spPr>
          <a:xfrm>
            <a:off x="5877004" y="4674583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9A44A6C-93C5-1443-F7C3-CB77AAB386E8}"/>
              </a:ext>
            </a:extLst>
          </p:cNvPr>
          <p:cNvCxnSpPr>
            <a:cxnSpLocks/>
          </p:cNvCxnSpPr>
          <p:nvPr/>
        </p:nvCxnSpPr>
        <p:spPr>
          <a:xfrm>
            <a:off x="4827707" y="5038117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031F893-E48E-56EA-9227-DF56F0E4AA8C}"/>
              </a:ext>
            </a:extLst>
          </p:cNvPr>
          <p:cNvCxnSpPr>
            <a:cxnSpLocks/>
          </p:cNvCxnSpPr>
          <p:nvPr/>
        </p:nvCxnSpPr>
        <p:spPr>
          <a:xfrm>
            <a:off x="7484359" y="4592287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1EFF4F7C-B4A4-4396-D291-AD12BE8569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399" y="635372"/>
            <a:ext cx="4035230" cy="1208237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A52402A6-F5F6-C135-7A19-826FC71F6F8C}"/>
              </a:ext>
            </a:extLst>
          </p:cNvPr>
          <p:cNvSpPr/>
          <p:nvPr/>
        </p:nvSpPr>
        <p:spPr>
          <a:xfrm>
            <a:off x="8116623" y="1151428"/>
            <a:ext cx="102385" cy="353738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4AF588-96F3-21D8-C6D6-ABC1E7D00DDB}"/>
              </a:ext>
            </a:extLst>
          </p:cNvPr>
          <p:cNvSpPr txBox="1"/>
          <p:nvPr/>
        </p:nvSpPr>
        <p:spPr>
          <a:xfrm>
            <a:off x="416379" y="876529"/>
            <a:ext cx="36086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4D4D4E"/>
                </a:solidFill>
                <a:latin typeface="Perpetua" panose="02020502060401020303" pitchFamily="18" charset="0"/>
              </a:rPr>
              <a:t>Pump Cycle – The Connection Between Crop Circles and Bitcoin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C48B87-623C-A92F-1D99-AAFD804131C1}"/>
              </a:ext>
            </a:extLst>
          </p:cNvPr>
          <p:cNvCxnSpPr>
            <a:cxnSpLocks/>
          </p:cNvCxnSpPr>
          <p:nvPr/>
        </p:nvCxnSpPr>
        <p:spPr>
          <a:xfrm>
            <a:off x="10085831" y="3594574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59CD0AB-60E7-C975-E13C-699C236BAF87}"/>
              </a:ext>
            </a:extLst>
          </p:cNvPr>
          <p:cNvSpPr txBox="1"/>
          <p:nvPr/>
        </p:nvSpPr>
        <p:spPr>
          <a:xfrm>
            <a:off x="8323027" y="3594574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446EF1-443D-6D95-6239-8A60A84A48E9}"/>
              </a:ext>
            </a:extLst>
          </p:cNvPr>
          <p:cNvSpPr txBox="1"/>
          <p:nvPr/>
        </p:nvSpPr>
        <p:spPr>
          <a:xfrm>
            <a:off x="10691744" y="2587723"/>
            <a:ext cx="717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</a:rPr>
              <a:t>1/</a:t>
            </a:r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484681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DD769-ED3B-3118-2CF4-F954FD44B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4ECD08F-EACC-0956-2174-5D77062B7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18392"/>
            <a:ext cx="12192000" cy="3632896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86796A34-441F-06AF-04F3-D4ED9C6B9C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42" y="207711"/>
            <a:ext cx="2612367" cy="579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8FEB5B4-8D11-2D69-A806-00C2053B78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7434" y="118533"/>
            <a:ext cx="1581150" cy="1838325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2A22363-512E-05CA-88E3-BD0C52795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9695467"/>
              </p:ext>
            </p:extLst>
          </p:nvPr>
        </p:nvGraphicFramePr>
        <p:xfrm>
          <a:off x="5010154" y="192009"/>
          <a:ext cx="2766809" cy="165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7838">
                  <a:extLst>
                    <a:ext uri="{9D8B030D-6E8A-4147-A177-3AD203B41FA5}">
                      <a16:colId xmlns:a16="http://schemas.microsoft.com/office/drawing/2014/main" val="180192999"/>
                    </a:ext>
                  </a:extLst>
                </a:gridCol>
                <a:gridCol w="647838">
                  <a:extLst>
                    <a:ext uri="{9D8B030D-6E8A-4147-A177-3AD203B41FA5}">
                      <a16:colId xmlns:a16="http://schemas.microsoft.com/office/drawing/2014/main" val="876552772"/>
                    </a:ext>
                  </a:extLst>
                </a:gridCol>
                <a:gridCol w="769308">
                  <a:extLst>
                    <a:ext uri="{9D8B030D-6E8A-4147-A177-3AD203B41FA5}">
                      <a16:colId xmlns:a16="http://schemas.microsoft.com/office/drawing/2014/main" val="590476055"/>
                    </a:ext>
                  </a:extLst>
                </a:gridCol>
                <a:gridCol w="701825">
                  <a:extLst>
                    <a:ext uri="{9D8B030D-6E8A-4147-A177-3AD203B41FA5}">
                      <a16:colId xmlns:a16="http://schemas.microsoft.com/office/drawing/2014/main" val="2691916866"/>
                    </a:ext>
                  </a:extLst>
                </a:gridCol>
              </a:tblGrid>
              <a:tr h="330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 dirty="0">
                          <a:effectLst/>
                        </a:rPr>
                        <a:t>Days</a:t>
                      </a:r>
                      <a:endParaRPr lang="en-US" sz="1100" b="0" i="0" u="sng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Segment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Start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End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30698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79.8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7/18/2010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10/5/2010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397333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49.3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10/5/2010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11/24/2010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418168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49.3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11/24/2010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1/12/2011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88214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30.5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1/</a:t>
                      </a:r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1/12/2011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2/12/2011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44467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7B3FC12-6E41-98C6-C14B-673939A53AA3}"/>
              </a:ext>
            </a:extLst>
          </p:cNvPr>
          <p:cNvSpPr txBox="1"/>
          <p:nvPr/>
        </p:nvSpPr>
        <p:spPr>
          <a:xfrm>
            <a:off x="2676135" y="4740817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9CC529-A794-7D49-5869-781281CD6855}"/>
              </a:ext>
            </a:extLst>
          </p:cNvPr>
          <p:cNvSpPr txBox="1"/>
          <p:nvPr/>
        </p:nvSpPr>
        <p:spPr>
          <a:xfrm>
            <a:off x="5771470" y="3743104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AA82A8D-E3AD-53F6-A206-BEF53EB12EE2}"/>
              </a:ext>
            </a:extLst>
          </p:cNvPr>
          <p:cNvCxnSpPr>
            <a:cxnSpLocks/>
          </p:cNvCxnSpPr>
          <p:nvPr/>
        </p:nvCxnSpPr>
        <p:spPr>
          <a:xfrm>
            <a:off x="4827707" y="5275861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87A9725-91D2-8752-519C-0110955B9A19}"/>
              </a:ext>
            </a:extLst>
          </p:cNvPr>
          <p:cNvCxnSpPr>
            <a:cxnSpLocks/>
          </p:cNvCxnSpPr>
          <p:nvPr/>
        </p:nvCxnSpPr>
        <p:spPr>
          <a:xfrm>
            <a:off x="7584943" y="3886200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CB2751B8-0272-0000-3691-44DF80B41F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399" y="635372"/>
            <a:ext cx="4035230" cy="1208237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F8450B87-F774-0FAB-C8C1-09636CFEC8B6}"/>
              </a:ext>
            </a:extLst>
          </p:cNvPr>
          <p:cNvSpPr/>
          <p:nvPr/>
        </p:nvSpPr>
        <p:spPr>
          <a:xfrm>
            <a:off x="7975328" y="1398495"/>
            <a:ext cx="176035" cy="23749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BDC1EF-A3F6-880C-EF33-0A916D2E0459}"/>
              </a:ext>
            </a:extLst>
          </p:cNvPr>
          <p:cNvSpPr txBox="1"/>
          <p:nvPr/>
        </p:nvSpPr>
        <p:spPr>
          <a:xfrm>
            <a:off x="416379" y="876529"/>
            <a:ext cx="36086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4D4D4E"/>
                </a:solidFill>
                <a:latin typeface="Perpetua" panose="02020502060401020303" pitchFamily="18" charset="0"/>
              </a:rPr>
              <a:t>Pump Cycle – The Connection Between Crop Circles and Bitcoin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7E1AA96-544D-43CC-DE05-F4F8CFC5B259}"/>
              </a:ext>
            </a:extLst>
          </p:cNvPr>
          <p:cNvCxnSpPr>
            <a:cxnSpLocks/>
          </p:cNvCxnSpPr>
          <p:nvPr/>
        </p:nvCxnSpPr>
        <p:spPr>
          <a:xfrm>
            <a:off x="10195559" y="3743104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D88ABB1-8809-534E-B6D4-6803FCC60405}"/>
              </a:ext>
            </a:extLst>
          </p:cNvPr>
          <p:cNvSpPr txBox="1"/>
          <p:nvPr/>
        </p:nvSpPr>
        <p:spPr>
          <a:xfrm>
            <a:off x="8911622" y="3486090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810D39-3C52-10CA-3A72-AEFD8EA6F398}"/>
              </a:ext>
            </a:extLst>
          </p:cNvPr>
          <p:cNvSpPr txBox="1"/>
          <p:nvPr/>
        </p:nvSpPr>
        <p:spPr>
          <a:xfrm>
            <a:off x="10691744" y="2587723"/>
            <a:ext cx="717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</a:rPr>
              <a:t>1/</a:t>
            </a:r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61424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10321</TotalTime>
  <Words>400</Words>
  <Application>Microsoft Office PowerPoint</Application>
  <PresentationFormat>Widescreen</PresentationFormat>
  <Paragraphs>250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Google Sans</vt:lpstr>
      <vt:lpstr>Perpetua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pete k</dc:creator>
  <cp:lastModifiedBy>peterman</cp:lastModifiedBy>
  <cp:revision>177</cp:revision>
  <cp:lastPrinted>2023-08-04T19:42:11Z</cp:lastPrinted>
  <dcterms:created xsi:type="dcterms:W3CDTF">2023-06-04T21:35:34Z</dcterms:created>
  <dcterms:modified xsi:type="dcterms:W3CDTF">2026-03-05T00:59:41Z</dcterms:modified>
</cp:coreProperties>
</file>